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60" r:id="rId3"/>
    <p:sldId id="258" r:id="rId4"/>
    <p:sldId id="259" r:id="rId5"/>
    <p:sldId id="263" r:id="rId6"/>
    <p:sldId id="26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93" autoAdjust="0"/>
    <p:restoredTop sz="94660"/>
  </p:normalViewPr>
  <p:slideViewPr>
    <p:cSldViewPr snapToGrid="0">
      <p:cViewPr varScale="1">
        <p:scale>
          <a:sx n="117" d="100"/>
          <a:sy n="117" d="100"/>
        </p:scale>
        <p:origin x="33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5/2/21</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5/2/21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5/2/21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5/2/21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5/2/21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5/2/21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5/2/21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5/2/21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5/2/21</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5/2/21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5/2/21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5/2/21</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315B18DF-1A4F-456F-8E0E-8CFE4C8089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E334CD9B-39EA-42AE-8A1F-0D40028F3F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5971A1C8-C58C-4F73-9B7F-4731E661D73D}"/>
              </a:ext>
            </a:extLst>
          </p:cNvPr>
          <p:cNvSpPr>
            <a:spLocks noGrp="1"/>
          </p:cNvSpPr>
          <p:nvPr>
            <p:ph type="ctrTitle"/>
          </p:nvPr>
        </p:nvSpPr>
        <p:spPr>
          <a:xfrm>
            <a:off x="1452616" y="3128962"/>
            <a:ext cx="3525640" cy="214767"/>
          </a:xfrm>
        </p:spPr>
        <p:txBody>
          <a:bodyPr>
            <a:normAutofit fontScale="90000"/>
          </a:bodyPr>
          <a:lstStyle/>
          <a:p>
            <a:r>
              <a:rPr lang="en-US" sz="1400" dirty="0" err="1"/>
              <a:t>Vio.PY</a:t>
            </a:r>
            <a:r>
              <a:rPr lang="en-US" sz="1400" dirty="0"/>
              <a:t> output</a:t>
            </a:r>
          </a:p>
        </p:txBody>
      </p:sp>
      <p:sp>
        <p:nvSpPr>
          <p:cNvPr id="3" name="Subtitle 2">
            <a:extLst>
              <a:ext uri="{FF2B5EF4-FFF2-40B4-BE49-F238E27FC236}">
                <a16:creationId xmlns:a16="http://schemas.microsoft.com/office/drawing/2014/main" id="{1D98A21F-3948-4968-8009-3870A23B4DD7}"/>
              </a:ext>
            </a:extLst>
          </p:cNvPr>
          <p:cNvSpPr>
            <a:spLocks noGrp="1"/>
          </p:cNvSpPr>
          <p:nvPr>
            <p:ph type="subTitle" idx="1"/>
          </p:nvPr>
        </p:nvSpPr>
        <p:spPr>
          <a:xfrm>
            <a:off x="1452617" y="3531204"/>
            <a:ext cx="3521499" cy="1610643"/>
          </a:xfrm>
        </p:spPr>
        <p:txBody>
          <a:bodyPr>
            <a:normAutofit/>
          </a:bodyPr>
          <a:lstStyle/>
          <a:p>
            <a:r>
              <a:rPr lang="en-US" sz="1600" dirty="0"/>
              <a:t>Ikenna Achilihu</a:t>
            </a:r>
          </a:p>
          <a:p>
            <a:r>
              <a:rPr lang="en-US" sz="1600" dirty="0"/>
              <a:t>MEAM 620, Spring 2021</a:t>
            </a:r>
          </a:p>
          <a:p>
            <a:r>
              <a:rPr lang="en-US" sz="1600" dirty="0"/>
              <a:t>Project II phase III</a:t>
            </a:r>
          </a:p>
        </p:txBody>
      </p:sp>
      <p:cxnSp>
        <p:nvCxnSpPr>
          <p:cNvPr id="31" name="Straight Connector 30">
            <a:extLst>
              <a:ext uri="{FF2B5EF4-FFF2-40B4-BE49-F238E27FC236}">
                <a16:creationId xmlns:a16="http://schemas.microsoft.com/office/drawing/2014/main" id="{E7C3AE2A-04FA-4B67-9C14-0D990CA6AE0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2617" y="3528543"/>
            <a:ext cx="3521499" cy="0"/>
          </a:xfrm>
          <a:prstGeom prst="line">
            <a:avLst/>
          </a:prstGeom>
          <a:ln w="31750"/>
        </p:spPr>
        <p:style>
          <a:lnRef idx="3">
            <a:schemeClr val="accent1"/>
          </a:lnRef>
          <a:fillRef idx="0">
            <a:schemeClr val="accent1"/>
          </a:fillRef>
          <a:effectRef idx="2">
            <a:schemeClr val="accent1"/>
          </a:effectRef>
          <a:fontRef idx="minor">
            <a:schemeClr val="tx1"/>
          </a:fontRef>
        </p:style>
      </p:cxnSp>
      <p:grpSp>
        <p:nvGrpSpPr>
          <p:cNvPr id="33" name="Group 32">
            <a:extLst>
              <a:ext uri="{FF2B5EF4-FFF2-40B4-BE49-F238E27FC236}">
                <a16:creationId xmlns:a16="http://schemas.microsoft.com/office/drawing/2014/main" id="{24C6E9FA-459B-47A6-93ED-A57860553C3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60131" y="482171"/>
            <a:ext cx="6091791" cy="5149101"/>
            <a:chOff x="5446003" y="583365"/>
            <a:chExt cx="6091790" cy="5181928"/>
          </a:xfrm>
        </p:grpSpPr>
        <p:sp>
          <p:nvSpPr>
            <p:cNvPr id="34" name="Rectangle 33">
              <a:extLst>
                <a:ext uri="{FF2B5EF4-FFF2-40B4-BE49-F238E27FC236}">
                  <a16:creationId xmlns:a16="http://schemas.microsoft.com/office/drawing/2014/main" id="{47C1C93F-E23C-45AE-9DA2-42554BD6CC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6003" y="583365"/>
              <a:ext cx="6091790"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918F65DC-4B7C-4988-82E8-131C26140C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64828" y="915807"/>
              <a:ext cx="5461779" cy="4494927"/>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37" name="Picture 36">
            <a:extLst>
              <a:ext uri="{FF2B5EF4-FFF2-40B4-BE49-F238E27FC236}">
                <a16:creationId xmlns:a16="http://schemas.microsoft.com/office/drawing/2014/main" id="{8E7CFEF1-65E1-4CEE-91CA-B6B73B84BC8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39" name="Straight Connector 38">
            <a:extLst>
              <a:ext uri="{FF2B5EF4-FFF2-40B4-BE49-F238E27FC236}">
                <a16:creationId xmlns:a16="http://schemas.microsoft.com/office/drawing/2014/main" id="{FCA742D8-7814-4F8A-AEF8-1857FB21F04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BD3DFCA5-EA6A-4375-A4D3-F147C776F365}"/>
              </a:ext>
            </a:extLst>
          </p:cNvPr>
          <p:cNvSpPr txBox="1"/>
          <p:nvPr/>
        </p:nvSpPr>
        <p:spPr>
          <a:xfrm>
            <a:off x="6204857" y="2228671"/>
            <a:ext cx="4861249" cy="1477328"/>
          </a:xfrm>
          <a:prstGeom prst="rect">
            <a:avLst/>
          </a:prstGeom>
          <a:noFill/>
        </p:spPr>
        <p:txBody>
          <a:bodyPr wrap="square" rtlCol="0">
            <a:spAutoFit/>
          </a:bodyPr>
          <a:lstStyle/>
          <a:p>
            <a:pPr marL="285750" indent="-285750">
              <a:buFont typeface="Arial" panose="020B0604020202020204" pitchFamily="34" charset="0"/>
              <a:buChar char="•"/>
            </a:pPr>
            <a:r>
              <a:rPr lang="en-US" b="1" dirty="0"/>
              <a:t>Pages 2</a:t>
            </a:r>
            <a:r>
              <a:rPr lang="en-US" dirty="0"/>
              <a:t>: Trace of Covariance Matrix Plot</a:t>
            </a:r>
          </a:p>
          <a:p>
            <a:pPr marL="285750" indent="-285750">
              <a:buFont typeface="Arial" panose="020B0604020202020204" pitchFamily="34" charset="0"/>
              <a:buChar char="•"/>
            </a:pPr>
            <a:r>
              <a:rPr lang="en-US" b="1" dirty="0"/>
              <a:t>Page 3</a:t>
            </a:r>
            <a:r>
              <a:rPr lang="en-US" dirty="0"/>
              <a:t>: 	Attitude/Position/Velocity Plot</a:t>
            </a:r>
          </a:p>
          <a:p>
            <a:pPr marL="285750" indent="-285750">
              <a:buFont typeface="Arial" panose="020B0604020202020204" pitchFamily="34" charset="0"/>
              <a:buChar char="•"/>
            </a:pPr>
            <a:r>
              <a:rPr lang="en-US" b="1" dirty="0"/>
              <a:t>Page 4</a:t>
            </a:r>
            <a:r>
              <a:rPr lang="en-US" dirty="0"/>
              <a:t>: 	Accelerometer/</a:t>
            </a:r>
            <a:r>
              <a:rPr lang="en-US" dirty="0" err="1"/>
              <a:t>Gyrometer</a:t>
            </a:r>
            <a:r>
              <a:rPr lang="en-US" dirty="0"/>
              <a:t> Plot</a:t>
            </a:r>
          </a:p>
          <a:p>
            <a:pPr marL="285750" indent="-285750">
              <a:buFont typeface="Arial" panose="020B0604020202020204" pitchFamily="34" charset="0"/>
              <a:buChar char="•"/>
            </a:pPr>
            <a:r>
              <a:rPr lang="en-US" b="1" dirty="0"/>
              <a:t>Page 5</a:t>
            </a:r>
            <a:r>
              <a:rPr lang="en-US" dirty="0"/>
              <a:t>: 	Gravity Plot</a:t>
            </a:r>
          </a:p>
          <a:p>
            <a:pPr marL="285750" indent="-285750">
              <a:buFont typeface="Arial" panose="020B0604020202020204" pitchFamily="34" charset="0"/>
              <a:buChar char="•"/>
            </a:pPr>
            <a:r>
              <a:rPr lang="en-US" b="1" dirty="0"/>
              <a:t>Page 6</a:t>
            </a:r>
            <a:r>
              <a:rPr lang="en-US" dirty="0"/>
              <a:t>:	Observations</a:t>
            </a:r>
            <a:endParaRPr lang="en-US" b="1" dirty="0"/>
          </a:p>
        </p:txBody>
      </p:sp>
    </p:spTree>
    <p:extLst>
      <p:ext uri="{BB962C8B-B14F-4D97-AF65-F5344CB8AC3E}">
        <p14:creationId xmlns:p14="http://schemas.microsoft.com/office/powerpoint/2010/main" val="3410926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2000"/>
                                  </p:stCondLst>
                                  <p:iterate type="lt">
                                    <p:tmPct val="10000"/>
                                  </p:iterate>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4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2000"/>
                                  </p:stCondLst>
                                  <p:iterate type="lt">
                                    <p:tmPct val="10000"/>
                                  </p:iterate>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4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hart&#10;&#10;Description automatically generated">
            <a:extLst>
              <a:ext uri="{FF2B5EF4-FFF2-40B4-BE49-F238E27FC236}">
                <a16:creationId xmlns:a16="http://schemas.microsoft.com/office/drawing/2014/main" id="{C6AD109E-694B-4735-8F6D-8E42B5D5E162}"/>
              </a:ext>
            </a:extLst>
          </p:cNvPr>
          <p:cNvPicPr>
            <a:picLocks noChangeAspect="1"/>
          </p:cNvPicPr>
          <p:nvPr/>
        </p:nvPicPr>
        <p:blipFill>
          <a:blip r:embed="rId2"/>
          <a:stretch>
            <a:fillRect/>
          </a:stretch>
        </p:blipFill>
        <p:spPr>
          <a:xfrm>
            <a:off x="3169914" y="511885"/>
            <a:ext cx="5852172" cy="4389129"/>
          </a:xfrm>
          <a:prstGeom prst="rect">
            <a:avLst/>
          </a:prstGeom>
        </p:spPr>
      </p:pic>
    </p:spTree>
    <p:extLst>
      <p:ext uri="{BB962C8B-B14F-4D97-AF65-F5344CB8AC3E}">
        <p14:creationId xmlns:p14="http://schemas.microsoft.com/office/powerpoint/2010/main" val="5482313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9AFF08DD-328D-424B-89CC-491C55BDE30D}"/>
              </a:ext>
            </a:extLst>
          </p:cNvPr>
          <p:cNvCxnSpPr>
            <a:cxnSpLocks/>
          </p:cNvCxnSpPr>
          <p:nvPr/>
        </p:nvCxnSpPr>
        <p:spPr>
          <a:xfrm>
            <a:off x="6116620" y="159183"/>
            <a:ext cx="0" cy="5853250"/>
          </a:xfrm>
          <a:prstGeom prst="line">
            <a:avLst/>
          </a:prstGeom>
        </p:spPr>
        <p:style>
          <a:lnRef idx="3">
            <a:schemeClr val="accent1"/>
          </a:lnRef>
          <a:fillRef idx="0">
            <a:schemeClr val="accent1"/>
          </a:fillRef>
          <a:effectRef idx="2">
            <a:schemeClr val="accent1"/>
          </a:effectRef>
          <a:fontRef idx="minor">
            <a:schemeClr val="tx1"/>
          </a:fontRef>
        </p:style>
      </p:cxnSp>
      <p:pic>
        <p:nvPicPr>
          <p:cNvPr id="3" name="Picture 2" descr="Chart, histogram&#10;&#10;Description automatically generated">
            <a:extLst>
              <a:ext uri="{FF2B5EF4-FFF2-40B4-BE49-F238E27FC236}">
                <a16:creationId xmlns:a16="http://schemas.microsoft.com/office/drawing/2014/main" id="{63A5AB89-3406-4CBF-8127-9B4A8060C179}"/>
              </a:ext>
            </a:extLst>
          </p:cNvPr>
          <p:cNvPicPr>
            <a:picLocks noChangeAspect="1"/>
          </p:cNvPicPr>
          <p:nvPr/>
        </p:nvPicPr>
        <p:blipFill>
          <a:blip r:embed="rId2"/>
          <a:stretch>
            <a:fillRect/>
          </a:stretch>
        </p:blipFill>
        <p:spPr>
          <a:xfrm>
            <a:off x="360331" y="568568"/>
            <a:ext cx="5230368" cy="3922776"/>
          </a:xfrm>
          <a:prstGeom prst="rect">
            <a:avLst/>
          </a:prstGeom>
        </p:spPr>
      </p:pic>
      <p:pic>
        <p:nvPicPr>
          <p:cNvPr id="5" name="Picture 4" descr="Chart, line chart, histogram&#10;&#10;Description automatically generated">
            <a:extLst>
              <a:ext uri="{FF2B5EF4-FFF2-40B4-BE49-F238E27FC236}">
                <a16:creationId xmlns:a16="http://schemas.microsoft.com/office/drawing/2014/main" id="{74B9FFD4-09A3-412A-AC0D-744371841F6C}"/>
              </a:ext>
            </a:extLst>
          </p:cNvPr>
          <p:cNvPicPr>
            <a:picLocks noChangeAspect="1"/>
          </p:cNvPicPr>
          <p:nvPr/>
        </p:nvPicPr>
        <p:blipFill>
          <a:blip r:embed="rId3"/>
          <a:stretch>
            <a:fillRect/>
          </a:stretch>
        </p:blipFill>
        <p:spPr>
          <a:xfrm>
            <a:off x="6601301" y="568568"/>
            <a:ext cx="5230368" cy="3922776"/>
          </a:xfrm>
          <a:prstGeom prst="rect">
            <a:avLst/>
          </a:prstGeom>
        </p:spPr>
      </p:pic>
    </p:spTree>
    <p:extLst>
      <p:ext uri="{BB962C8B-B14F-4D97-AF65-F5344CB8AC3E}">
        <p14:creationId xmlns:p14="http://schemas.microsoft.com/office/powerpoint/2010/main" val="15591316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9AFF08DD-328D-424B-89CC-491C55BDE30D}"/>
              </a:ext>
            </a:extLst>
          </p:cNvPr>
          <p:cNvCxnSpPr>
            <a:cxnSpLocks/>
          </p:cNvCxnSpPr>
          <p:nvPr/>
        </p:nvCxnSpPr>
        <p:spPr>
          <a:xfrm>
            <a:off x="6116620" y="159183"/>
            <a:ext cx="0" cy="5853250"/>
          </a:xfrm>
          <a:prstGeom prst="line">
            <a:avLst/>
          </a:prstGeom>
        </p:spPr>
        <p:style>
          <a:lnRef idx="3">
            <a:schemeClr val="accent1"/>
          </a:lnRef>
          <a:fillRef idx="0">
            <a:schemeClr val="accent1"/>
          </a:fillRef>
          <a:effectRef idx="2">
            <a:schemeClr val="accent1"/>
          </a:effectRef>
          <a:fontRef idx="minor">
            <a:schemeClr val="tx1"/>
          </a:fontRef>
        </p:style>
      </p:cxnSp>
      <p:pic>
        <p:nvPicPr>
          <p:cNvPr id="6" name="Picture 5" descr="Chart, line chart&#10;&#10;Description automatically generated">
            <a:extLst>
              <a:ext uri="{FF2B5EF4-FFF2-40B4-BE49-F238E27FC236}">
                <a16:creationId xmlns:a16="http://schemas.microsoft.com/office/drawing/2014/main" id="{56485704-D24D-4FAF-9863-89151A141239}"/>
              </a:ext>
            </a:extLst>
          </p:cNvPr>
          <p:cNvPicPr>
            <a:picLocks noChangeAspect="1"/>
          </p:cNvPicPr>
          <p:nvPr/>
        </p:nvPicPr>
        <p:blipFill>
          <a:blip r:embed="rId2"/>
          <a:stretch>
            <a:fillRect/>
          </a:stretch>
        </p:blipFill>
        <p:spPr>
          <a:xfrm>
            <a:off x="498151" y="677222"/>
            <a:ext cx="5230368" cy="3922776"/>
          </a:xfrm>
          <a:prstGeom prst="rect">
            <a:avLst/>
          </a:prstGeom>
        </p:spPr>
      </p:pic>
      <p:pic>
        <p:nvPicPr>
          <p:cNvPr id="13" name="Picture 12" descr="A picture containing chart&#10;&#10;Description automatically generated">
            <a:extLst>
              <a:ext uri="{FF2B5EF4-FFF2-40B4-BE49-F238E27FC236}">
                <a16:creationId xmlns:a16="http://schemas.microsoft.com/office/drawing/2014/main" id="{97C08374-BD7E-45B1-B87C-271E121806E0}"/>
              </a:ext>
            </a:extLst>
          </p:cNvPr>
          <p:cNvPicPr>
            <a:picLocks noChangeAspect="1"/>
          </p:cNvPicPr>
          <p:nvPr/>
        </p:nvPicPr>
        <p:blipFill>
          <a:blip r:embed="rId3"/>
          <a:stretch>
            <a:fillRect/>
          </a:stretch>
        </p:blipFill>
        <p:spPr>
          <a:xfrm>
            <a:off x="6504722" y="677222"/>
            <a:ext cx="5230368" cy="3922776"/>
          </a:xfrm>
          <a:prstGeom prst="rect">
            <a:avLst/>
          </a:prstGeom>
        </p:spPr>
      </p:pic>
    </p:spTree>
    <p:extLst>
      <p:ext uri="{BB962C8B-B14F-4D97-AF65-F5344CB8AC3E}">
        <p14:creationId xmlns:p14="http://schemas.microsoft.com/office/powerpoint/2010/main" val="26185105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Chart&#10;&#10;Description automatically generated">
            <a:extLst>
              <a:ext uri="{FF2B5EF4-FFF2-40B4-BE49-F238E27FC236}">
                <a16:creationId xmlns:a16="http://schemas.microsoft.com/office/drawing/2014/main" id="{7FC48D00-A450-406B-BBE0-150A629F125B}"/>
              </a:ext>
            </a:extLst>
          </p:cNvPr>
          <p:cNvPicPr>
            <a:picLocks noChangeAspect="1"/>
          </p:cNvPicPr>
          <p:nvPr/>
        </p:nvPicPr>
        <p:blipFill>
          <a:blip r:embed="rId2"/>
          <a:stretch>
            <a:fillRect/>
          </a:stretch>
        </p:blipFill>
        <p:spPr>
          <a:xfrm>
            <a:off x="3169914" y="516955"/>
            <a:ext cx="5852172" cy="4389129"/>
          </a:xfrm>
          <a:prstGeom prst="rect">
            <a:avLst/>
          </a:prstGeom>
        </p:spPr>
      </p:pic>
    </p:spTree>
    <p:extLst>
      <p:ext uri="{BB962C8B-B14F-4D97-AF65-F5344CB8AC3E}">
        <p14:creationId xmlns:p14="http://schemas.microsoft.com/office/powerpoint/2010/main" val="6250629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CC6A7C8-15EC-4264-9883-CFA35EE73D34}"/>
              </a:ext>
            </a:extLst>
          </p:cNvPr>
          <p:cNvSpPr txBox="1"/>
          <p:nvPr/>
        </p:nvSpPr>
        <p:spPr>
          <a:xfrm>
            <a:off x="891152" y="573438"/>
            <a:ext cx="10409695" cy="2308324"/>
          </a:xfrm>
          <a:prstGeom prst="rect">
            <a:avLst/>
          </a:prstGeom>
          <a:noFill/>
        </p:spPr>
        <p:txBody>
          <a:bodyPr wrap="square" rtlCol="0">
            <a:spAutoFit/>
          </a:bodyPr>
          <a:lstStyle/>
          <a:p>
            <a:r>
              <a:rPr lang="en-US" dirty="0"/>
              <a:t>Looking at the accelerometer bias plots, we note the presence of a bias which varies with time, a result that is indeed expected. Furthermore, after generating a video file from the 600 images present in cam0 and cam1 and comparing the resulting video to the estimated pose and trajectory from our Kalman Filter algorithm, we observe several areas of congruence. Note that the first ~3.5 minutes of each video were relevant because we only plotted the first 200 images. In each video, we observe the quadrotor’s x-axis position varying sinusoidally, with its magnitude varying much more than the z-axis position, an observation that is supported in our plots.. This corresponds to the </a:t>
            </a:r>
            <a:r>
              <a:rPr lang="en-US"/>
              <a:t>equadrotor</a:t>
            </a:r>
            <a:r>
              <a:rPr lang="en-US" dirty="0"/>
              <a:t> executing a circular motion which was captured by the cameras. Y-axis variation remains relatively constant which is also bolstered by our plots.</a:t>
            </a:r>
          </a:p>
        </p:txBody>
      </p:sp>
    </p:spTree>
    <p:extLst>
      <p:ext uri="{BB962C8B-B14F-4D97-AF65-F5344CB8AC3E}">
        <p14:creationId xmlns:p14="http://schemas.microsoft.com/office/powerpoint/2010/main" val="4289622152"/>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TM10001114[[fn=Gallery]]</Template>
  <TotalTime>343</TotalTime>
  <Words>201</Words>
  <Application>Microsoft Macintosh PowerPoint</Application>
  <PresentationFormat>Widescreen</PresentationFormat>
  <Paragraphs>10</Paragraphs>
  <Slides>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Gill Sans MT</vt:lpstr>
      <vt:lpstr>Gallery</vt:lpstr>
      <vt:lpstr>Vio.PY output</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Achilihu, Ikenna O</dc:creator>
  <cp:lastModifiedBy>Achilihu, Ikenna Okezie</cp:lastModifiedBy>
  <cp:revision>23</cp:revision>
  <dcterms:created xsi:type="dcterms:W3CDTF">2021-04-02T17:18:21Z</dcterms:created>
  <dcterms:modified xsi:type="dcterms:W3CDTF">2021-05-02T19:59:39Z</dcterms:modified>
</cp:coreProperties>
</file>